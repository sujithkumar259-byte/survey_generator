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14884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2240280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CF8"/>
                </a:solidFill>
                <a:latin typeface="Calibri"/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99A52"/>
                </a:solidFill>
                <a:latin typeface="Calibri"/>
              </a:rPr>
              <a:t>ZS PMR  ·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24612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CF8"/>
                </a:solidFill>
                <a:latin typeface="Georgia"/>
              </a:rPr>
              <a:t>Hypothesis-Driven Survey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9A52"/>
                </a:solidFill>
                <a:latin typeface="Georgia"/>
              </a:rPr>
              <a:t>Client research → a fielding-ready questionnaire — with a human in the loop at every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B7A597"/>
                </a:solidFill>
                <a:latin typeface="Calibri"/>
              </a:rPr>
              <a:t>AI-assisted questionnaire authoring for pharma market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6692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074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2825"/>
                </a:solidFill>
                <a:latin typeface="Georgia"/>
              </a:rPr>
              <a:t>Turning research into a survey is slow, inconsistent, and error-prone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0848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B0742B"/>
                </a:solidFill>
                <a:latin typeface="Calibri"/>
              </a:rPr>
              <a:t>Hypotheses get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08483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A6F65"/>
                </a:solidFill>
                <a:latin typeface="Calibri"/>
              </a:rPr>
              <a:t>what the study set out to learn isn't reliably measured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8183" y="2560320"/>
            <a:ext cx="20848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B0742B"/>
                </a:solidFill>
                <a:latin typeface="Calibri"/>
              </a:rPr>
              <a:t>Wrong instruments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8183" y="3246120"/>
            <a:ext cx="208483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A6F65"/>
                </a:solidFill>
                <a:latin typeface="Calibri"/>
              </a:rPr>
              <a:t>question types don't match the construct being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560320"/>
            <a:ext cx="20848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B0742B"/>
                </a:solidFill>
                <a:latin typeface="Calibri"/>
              </a:rPr>
              <a:t>Logic 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246120"/>
            <a:ext cx="208483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A6F65"/>
                </a:solidFill>
                <a:latin typeface="Calibri"/>
              </a:rPr>
              <a:t>routing and termination wired by hand, easy to get wrong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2560320"/>
            <a:ext cx="20848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B0742B"/>
                </a:solidFill>
                <a:latin typeface="Calibri"/>
              </a:rPr>
              <a:t>Quality is a lottery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3246120"/>
            <a:ext cx="208483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A6F65"/>
                </a:solidFill>
                <a:latin typeface="Calibri"/>
              </a:rPr>
              <a:t>the result depends on whoever happens to draft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C2825"/>
                </a:solidFill>
                <a:latin typeface="Georgia"/>
              </a:rPr>
              <a:t>Today this takes days of manual drafting and review — per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6692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0742B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C2825"/>
                </a:solidFill>
                <a:latin typeface="Georgia"/>
              </a:rPr>
              <a:t>An AI co-author that does the heavy lifting — and asks you to approve each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3E8D4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761488"/>
            <a:ext cx="2871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0742B"/>
                </a:solidFill>
                <a:latin typeface="Calibri"/>
              </a:rPr>
              <a:t>Drafts the whole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520440"/>
            <a:ext cx="28712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C2825"/>
                </a:solidFill>
                <a:latin typeface="Calibri"/>
              </a:rPr>
              <a:t>from hypotheses to a structured, validated outline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3E8D4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761488"/>
            <a:ext cx="2871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0742B"/>
                </a:solidFill>
                <a:latin typeface="Calibri"/>
              </a:rPr>
              <a:t>Checks its own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3520440"/>
            <a:ext cx="28712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C2825"/>
                </a:solidFill>
                <a:latin typeface="Calibri"/>
              </a:rPr>
              <a:t>a deterministic engine fixes problems before you see them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246888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3E8D4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2761488"/>
            <a:ext cx="2871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0742B"/>
                </a:solidFill>
                <a:latin typeface="Calibri"/>
              </a:rPr>
              <a:t>Keeps you in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3520440"/>
            <a:ext cx="28712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C2825"/>
                </a:solidFill>
                <a:latin typeface="Calibri"/>
              </a:rPr>
              <a:t>explicit human sign-off gates every phase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6692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0742B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2825"/>
                </a:solidFill>
                <a:latin typeface="Georgia"/>
              </a:rPr>
              <a:t>Three human-gated phases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560320"/>
            <a:ext cx="457200" cy="457200"/>
          </a:xfrm>
          <a:prstGeom prst="ellipse">
            <a:avLst/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CF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39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C2825"/>
                </a:solidFill>
                <a:latin typeface="Georgia"/>
              </a:rPr>
              <a:t>Hypotheses</a:t>
            </a:r>
          </a:p>
          <a:p>
            <a:pPr algn="l"/>
            <a:r>
              <a:rPr sz="1000" b="1">
                <a:solidFill>
                  <a:srgbClr val="B0742B"/>
                </a:solidFill>
                <a:latin typeface="Calibri"/>
              </a:rPr>
              <a:t>Python ·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566160"/>
            <a:ext cx="27340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A6F65"/>
                </a:solidFill>
                <a:latin typeface="Calibri"/>
              </a:rPr>
              <a:t>Brief + docs → clarifying questions → research hypotheses +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233172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3E8D4"/>
          </a:solidFill>
          <a:ln w="20320">
            <a:solidFill>
              <a:srgbClr val="B0742B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73168" y="2560320"/>
            <a:ext cx="457200" cy="457200"/>
          </a:xfrm>
          <a:prstGeom prst="ellipse">
            <a:avLst/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CF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606039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C2825"/>
                </a:solidFill>
                <a:latin typeface="Georgia"/>
              </a:rPr>
              <a:t>Survey construction</a:t>
            </a:r>
          </a:p>
          <a:p>
            <a:pPr algn="l"/>
            <a:r>
              <a:rPr sz="1000" b="1">
                <a:solidFill>
                  <a:srgbClr val="B0742B"/>
                </a:solidFill>
                <a:latin typeface="Calibri"/>
              </a:rPr>
              <a:t>Python · multi-agent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566160"/>
            <a:ext cx="27340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A6F65"/>
                </a:solidFill>
                <a:latin typeface="Calibri"/>
              </a:rPr>
              <a:t>Map → draft → validate → review → edit → repair → clean Excel outline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6" y="233172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94776" y="2560320"/>
            <a:ext cx="457200" cy="457200"/>
          </a:xfrm>
          <a:prstGeom prst="ellipse">
            <a:avLst/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CF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2606039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C2825"/>
                </a:solidFill>
                <a:latin typeface="Georgia"/>
              </a:rPr>
              <a:t>Rendering</a:t>
            </a:r>
          </a:p>
          <a:p>
            <a:pPr algn="l"/>
            <a:r>
              <a:rPr sz="1000" b="1">
                <a:solidFill>
                  <a:srgbClr val="B0742B"/>
                </a:solidFill>
                <a:latin typeface="Calibri"/>
              </a:rPr>
              <a:t>R · Shiny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3566160"/>
            <a:ext cx="27340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A6F65"/>
                </a:solidFill>
                <a:latin typeface="Calibri"/>
              </a:rPr>
              <a:t>Approved outline → formatted, print-ready Word questionnaire</a:t>
            </a:r>
          </a:p>
        </p:txBody>
      </p:sp>
      <p:sp>
        <p:nvSpPr>
          <p:cNvPr id="17" name="Chevron 16"/>
          <p:cNvSpPr/>
          <p:nvPr/>
        </p:nvSpPr>
        <p:spPr>
          <a:xfrm>
            <a:off x="4123944" y="3337560"/>
            <a:ext cx="310896" cy="384048"/>
          </a:xfrm>
          <a:prstGeom prst="chevron">
            <a:avLst/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845552" y="3337560"/>
            <a:ext cx="310896" cy="384048"/>
          </a:xfrm>
          <a:prstGeom prst="chevron">
            <a:avLst/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3794760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0742B"/>
                </a:solidFill>
                <a:latin typeface="Calibri"/>
              </a:rPr>
              <a:t>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794760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0742B"/>
                </a:solidFill>
                <a:latin typeface="Calibri"/>
              </a:rPr>
              <a:t>approve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C2825"/>
                </a:solidFill>
                <a:latin typeface="Georgia"/>
              </a:rPr>
              <a:t>Nothing advances without your approval  →  final output: a formatted Word questionnaire (.docx)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6692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0742B"/>
                </a:solidFill>
                <a:latin typeface="Calibri"/>
              </a:rPr>
              <a:t>WHAT MAKES IT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2825"/>
                </a:solidFill>
                <a:latin typeface="Georgia"/>
              </a:rPr>
              <a:t>A self-correcting engine, not a one-shot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2C2825"/>
                </a:solidFill>
                <a:latin typeface="Calibri"/>
              </a:rPr>
              <a:t>A deterministic rule validator </a:t>
            </a:r>
            <a:r>
              <a:rPr sz="1450" b="1">
                <a:solidFill>
                  <a:srgbClr val="B0742B"/>
                </a:solidFill>
                <a:latin typeface="Calibri"/>
              </a:rPr>
              <a:t>drives</a:t>
            </a:r>
            <a:r>
              <a:rPr sz="1450" b="0">
                <a:solidFill>
                  <a:srgbClr val="2C2825"/>
                </a:solidFill>
                <a:latin typeface="Calibri"/>
              </a:rPr>
              <a:t> revision — every blocker and warning is fed back and re-checked until the survey is structurally sound. It can't hand you a broken survey.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7780">
            <a:solidFill>
              <a:srgbClr val="B0742B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108960"/>
            <a:ext cx="211226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C2825"/>
                </a:solidFill>
                <a:latin typeface="Calibri"/>
              </a:rPr>
              <a:t>Draft</a:t>
            </a:r>
          </a:p>
        </p:txBody>
      </p:sp>
      <p:sp>
        <p:nvSpPr>
          <p:cNvPr id="8" name="Chevron 7"/>
          <p:cNvSpPr/>
          <p:nvPr/>
        </p:nvSpPr>
        <p:spPr>
          <a:xfrm>
            <a:off x="3209544" y="3355848"/>
            <a:ext cx="274320" cy="365760"/>
          </a:xfrm>
          <a:prstGeom prst="chevron">
            <a:avLst/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310896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7780">
            <a:solidFill>
              <a:srgbClr val="B0742B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3108960"/>
            <a:ext cx="211226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C2825"/>
                </a:solidFill>
                <a:latin typeface="Calibri"/>
              </a:rPr>
              <a:t>Validate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5952743" y="3355848"/>
            <a:ext cx="274320" cy="365760"/>
          </a:xfrm>
          <a:prstGeom prst="chevron">
            <a:avLst/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310896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7780">
            <a:solidFill>
              <a:srgbClr val="B0742B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108960"/>
            <a:ext cx="211226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C2825"/>
                </a:solidFill>
                <a:latin typeface="Calibri"/>
              </a:rPr>
              <a:t>Review · Edit · Revise</a:t>
            </a:r>
          </a:p>
        </p:txBody>
      </p:sp>
      <p:sp>
        <p:nvSpPr>
          <p:cNvPr id="14" name="Chevron 13"/>
          <p:cNvSpPr/>
          <p:nvPr/>
        </p:nvSpPr>
        <p:spPr>
          <a:xfrm>
            <a:off x="8695944" y="3355848"/>
            <a:ext cx="274320" cy="365760"/>
          </a:xfrm>
          <a:prstGeom prst="chevron">
            <a:avLst/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310896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 w="17780">
            <a:solidFill>
              <a:srgbClr val="B0742B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3108960"/>
            <a:ext cx="211226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C2825"/>
                </a:solidFill>
                <a:latin typeface="Calibri"/>
              </a:rPr>
              <a:t>Re-validate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0742B"/>
                </a:solidFill>
                <a:latin typeface="Calibri"/>
              </a:rPr>
              <a:t>↺  repeat ≤ 3× until the rules pass  →  sanitize net  →  approval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742B"/>
                </a:solidFill>
                <a:latin typeface="Calibri"/>
              </a:rPr>
              <a:t>•  </a:t>
            </a:r>
            <a:r>
              <a:rPr sz="1300" b="0">
                <a:solidFill>
                  <a:srgbClr val="2C2825"/>
                </a:solidFill>
                <a:latin typeface="Calibri"/>
              </a:rPr>
              <a:t>Holistic editor optimizes the whole survey, not one question at a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742B"/>
                </a:solidFill>
                <a:latin typeface="Calibri"/>
              </a:rPr>
              <a:t>•  </a:t>
            </a:r>
            <a:r>
              <a:rPr sz="1300" b="0">
                <a:solidFill>
                  <a:srgbClr val="2C2825"/>
                </a:solidFill>
                <a:latin typeface="Calibri"/>
              </a:rPr>
              <a:t>Human-in-the-loop: export is gated until validation is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742B"/>
                </a:solidFill>
                <a:latin typeface="Calibri"/>
              </a:rPr>
              <a:t>•  </a:t>
            </a:r>
            <a:r>
              <a:rPr sz="1300" b="0">
                <a:solidFill>
                  <a:srgbClr val="2C2825"/>
                </a:solidFill>
                <a:latin typeface="Calibri"/>
              </a:rPr>
              <a:t>Provider-flexible: Anthropic · OpenAI · Gemini · Groq (default Opus 4.8)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6692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C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99A52"/>
                </a:solidFill>
                <a:latin typeface="Calibri"/>
              </a:rPr>
              <a:t>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CF8"/>
                </a:solidFill>
                <a:latin typeface="Georgia"/>
              </a:rPr>
              <a:t>From 24 blockers to a clean, exportable survey —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993392" cy="1828800"/>
          </a:xfrm>
          <a:prstGeom prst="roundRect">
            <a:avLst>
              <a:gd name="adj" fmla="val 8000"/>
            </a:avLst>
          </a:prstGeom>
          <a:solidFill>
            <a:srgbClr val="241F1B"/>
          </a:solidFill>
          <a:ln>
            <a:noFill/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E8B57"/>
                </a:solidFill>
                <a:latin typeface="Georgia"/>
              </a:rPr>
              <a:t>24 →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9BCAE"/>
                </a:solidFill>
                <a:latin typeface="Calibri"/>
              </a:rPr>
              <a:t>validation blockers, auto-fixed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0944" y="2468880"/>
            <a:ext cx="1993392" cy="1828800"/>
          </a:xfrm>
          <a:prstGeom prst="roundRect">
            <a:avLst>
              <a:gd name="adj" fmla="val 8000"/>
            </a:avLst>
          </a:prstGeom>
          <a:solidFill>
            <a:srgbClr val="241F1B"/>
          </a:solidFill>
          <a:ln>
            <a:noFill/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384" y="278892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C99A52"/>
                </a:solidFill>
                <a:latin typeface="Georgia"/>
              </a:rPr>
              <a:t>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3657600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9BCAE"/>
                </a:solidFill>
                <a:latin typeface="Calibri"/>
              </a:rPr>
              <a:t>questions across 13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2468880"/>
            <a:ext cx="1993392" cy="1828800"/>
          </a:xfrm>
          <a:prstGeom prst="roundRect">
            <a:avLst>
              <a:gd name="adj" fmla="val 8000"/>
            </a:avLst>
          </a:prstGeom>
          <a:solidFill>
            <a:srgbClr val="241F1B"/>
          </a:solidFill>
          <a:ln>
            <a:noFill/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278892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C99A52"/>
                </a:solidFill>
                <a:latin typeface="Georgia"/>
              </a:rPr>
              <a:t>25 /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3657600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9BCAE"/>
                </a:solidFill>
                <a:latin typeface="Calibri"/>
              </a:rPr>
              <a:t>hypotheses 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2468880"/>
            <a:ext cx="1993392" cy="1828800"/>
          </a:xfrm>
          <a:prstGeom prst="roundRect">
            <a:avLst>
              <a:gd name="adj" fmla="val 8000"/>
            </a:avLst>
          </a:prstGeom>
          <a:solidFill>
            <a:srgbClr val="241F1B"/>
          </a:solidFill>
          <a:ln>
            <a:noFill/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78892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C99A52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3657600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9BCAE"/>
                </a:solidFill>
                <a:latin typeface="Calibri"/>
              </a:rPr>
              <a:t>self-repair rounds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4896" y="2468880"/>
            <a:ext cx="1993392" cy="1828800"/>
          </a:xfrm>
          <a:prstGeom prst="roundRect">
            <a:avLst>
              <a:gd name="adj" fmla="val 8000"/>
            </a:avLst>
          </a:prstGeom>
          <a:solidFill>
            <a:srgbClr val="241F1B"/>
          </a:solidFill>
          <a:ln>
            <a:noFill/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278892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C99A52"/>
                </a:solidFill>
                <a:latin typeface="Georgia"/>
              </a:rPr>
              <a:t>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2056" y="3657600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9BCAE"/>
                </a:solidFill>
                <a:latin typeface="Calibri"/>
              </a:rPr>
              <a:t>not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9A52"/>
                </a:solidFill>
                <a:latin typeface="Georgia"/>
              </a:rPr>
              <a:t>Live run on an ATTR-CM awareness-trial-&amp;-usage study — exported in one pass.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6692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0742B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2825"/>
                </a:solidFill>
                <a:latin typeface="Georgia"/>
              </a:rPr>
              <a:t>Built to be reliable and flexible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95728"/>
            <a:ext cx="460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742B"/>
                </a:solidFill>
                <a:latin typeface="Calibri"/>
              </a:rPr>
              <a:t>Multi-provider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52928"/>
            <a:ext cx="460857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A6F65"/>
                </a:solidFill>
                <a:latin typeface="Calibri"/>
              </a:rPr>
              <a:t>Anthropic · OpenAI · Gemini · Groq — default Claude Opus 4.8; keys stay in-session, never on disk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395728"/>
            <a:ext cx="460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742B"/>
                </a:solidFill>
                <a:latin typeface="Calibri"/>
              </a:rPr>
              <a:t>Two-runtime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60857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A6F65"/>
                </a:solidFill>
                <a:latin typeface="Calibri"/>
              </a:rPr>
              <a:t>Streamlit (Phases 1–2, Python) + R Shiny (Phase 3) joined by a strict workbook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0332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904487"/>
            <a:ext cx="460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742B"/>
                </a:solidFill>
                <a:latin typeface="Calibri"/>
              </a:rPr>
              <a:t>Deterministic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361688"/>
            <a:ext cx="460857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A6F65"/>
                </a:solidFill>
                <a:latin typeface="Calibri"/>
              </a:rPr>
              <a:t>rule validator + sanitize net enforce 17 question types, routing, termination &amp;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904487"/>
            <a:ext cx="460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742B"/>
                </a:solidFill>
                <a:latin typeface="Calibri"/>
              </a:rPr>
              <a:t>Parallel multi-agent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4361688"/>
            <a:ext cx="460857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A6F65"/>
                </a:solidFill>
                <a:latin typeface="Calibri"/>
              </a:rPr>
              <a:t>reviewers, consolidator, editor &amp; reviser run concurrently per section for speed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66928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B0742B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2825"/>
                </a:solidFill>
                <a:latin typeface="Georgia"/>
              </a:rPr>
              <a:t>Why it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F3E8D4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423160"/>
            <a:ext cx="460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B0742B"/>
                </a:solidFill>
                <a:latin typeface="Georgia"/>
              </a:rPr>
              <a:t>Days →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907791"/>
            <a:ext cx="460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C2825"/>
                </a:solidFill>
                <a:latin typeface="Calibri"/>
              </a:rPr>
              <a:t>best-practice surveys without the manual grind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F3E8D4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423160"/>
            <a:ext cx="460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B0742B"/>
                </a:solidFill>
                <a:latin typeface="Georgia"/>
              </a:rPr>
              <a:t>Coverage guaranteed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907791"/>
            <a:ext cx="460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C2825"/>
                </a:solidFill>
                <a:latin typeface="Calibri"/>
              </a:rPr>
              <a:t>every research hypothesis is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0332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F3E8D4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931920"/>
            <a:ext cx="460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B0742B"/>
                </a:solidFill>
                <a:latin typeface="Georgia"/>
              </a:rPr>
              <a:t>Quality enforced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416552"/>
            <a:ext cx="460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C2825"/>
                </a:solidFill>
                <a:latin typeface="Calibri"/>
              </a:rPr>
              <a:t>structural soundness checked automatically, every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F3E8D4"/>
          </a:solidFill>
          <a:ln w="15240">
            <a:solidFill>
              <a:srgbClr val="E5D9C5"/>
            </a:solidFill>
          </a:ln>
          <a:effectLst/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931920"/>
            <a:ext cx="460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B0742B"/>
                </a:solidFill>
                <a:latin typeface="Georgia"/>
              </a:rPr>
              <a:t>You stay 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4416552"/>
            <a:ext cx="460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C2825"/>
                </a:solidFill>
                <a:latin typeface="Calibri"/>
              </a:rPr>
              <a:t>a tool that assists experts, it doesn't replace them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2860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B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2377440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CF8"/>
                </a:solidFill>
                <a:latin typeface="Calibri"/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0632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CF8"/>
                </a:solidFill>
                <a:latin typeface="Georgia"/>
              </a:rPr>
              <a:t>Research in. Fielding-ready survey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9A52"/>
                </a:solidFill>
                <a:latin typeface="Georgia"/>
              </a:rPr>
              <a:t>Hypothesis-Driven Survey Generator  ·  AI that drafts, self-corrects, and waits for your sign-off.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9BCAE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